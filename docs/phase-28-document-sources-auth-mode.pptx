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wide"/>
  <p:notesSz cx="6858000" cy="9144000"/>
  <p:defaultTextStyle>
    <a:defPPr>
      <a:defRPr lang="zh-TW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D85"/>
          </a:solidFill>
          <a:ln w="12700">
            <a:solidFill>
              <a:srgbClr val="256D85"/>
            </a:solidFill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2920" y="301752"/>
            <a:ext cx="8046720" cy="4572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2600" b="1">
                <a:solidFill>
                  <a:srgbClr val="17202A"/>
                </a:solidFill>
                <a:latin typeface="Aptos"/>
                <a:ea typeface="Microsoft JhengHei"/>
              </a:rPr>
              <a:t>Phase 28：Document Sources / Demo Auth Mode</a:t>
            </a:r>
            <a:endParaRPr lang="zh-TW" sz="2600"/>
          </a:p>
        </p:txBody>
      </p:sp>
      <p:sp>
        <p:nvSpPr>
          <p:cNvPr id="4" name="subtitle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1050" b="0">
                <a:solidFill>
                  <a:srgbClr val="5A6470"/>
                </a:solidFill>
                <a:latin typeface="Aptos"/>
                <a:ea typeface="Microsoft JhengHei"/>
              </a:rPr>
              <a:t>v0.28.0 規劃重點：讓文件來源與角色展示更接近實務，但保持 demo-safe 邊界</a:t>
            </a:r>
            <a:endParaRPr lang="zh-TW" sz="1050"/>
          </a:p>
        </p:txBody>
      </p:sp>
      <p:sp>
        <p:nvSpPr>
          <p:cNvPr id="5" name="headline"/>
          <p:cNvSpPr/>
          <p:nvPr/>
        </p:nvSpPr>
        <p:spPr>
          <a:xfrm>
            <a:off x="8503920" y="384048"/>
            <a:ext cx="3200400" cy="530352"/>
          </a:xfrm>
          <a:prstGeom prst="roundRect">
            <a:avLst/>
          </a:prstGeom>
          <a:solidFill>
            <a:srgbClr val="17202A"/>
          </a:solidFill>
          <a:ln w="12700">
            <a:solidFill>
              <a:srgbClr val="17202A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20" b="1">
                <a:solidFill>
                  <a:srgbClr val="FFFFFF"/>
                </a:solidFill>
                <a:latin typeface="Aptos"/>
                <a:ea typeface="Microsoft JhengHei"/>
              </a:rPr>
              <a:t>從圖片 OCR demo 升級為多來源知識庫入口</a:t>
            </a:r>
            <a:endParaRPr lang="zh-TW" sz="1120"/>
          </a:p>
        </p:txBody>
      </p:sp>
      <p:sp>
        <p:nvSpPr>
          <p:cNvPr id="6" name="why"/>
          <p:cNvSpPr/>
          <p:nvPr/>
        </p:nvSpPr>
        <p:spPr>
          <a:xfrm>
            <a:off x="566928" y="1325880"/>
            <a:ext cx="30632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為什麼是 Phase 28</a:t>
            </a:r>
            <a:endParaRPr lang="zh-TW" sz="1120"/>
          </a:p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目前 demo 已有 OCR / RAG / Agent，但文件來源仍偏向圖片 OCR。Phase 28 補上 .txt 與 text-native PDF，讓 ingestion 更像真實企業文件平台。</a:t>
            </a:r>
            <a:endParaRPr lang="zh-TW" sz="1120"/>
          </a:p>
        </p:txBody>
      </p:sp>
      <p:sp>
        <p:nvSpPr>
          <p:cNvPr id="7" name=".txt"/>
          <p:cNvSpPr/>
          <p:nvPr/>
        </p:nvSpPr>
        <p:spPr>
          <a:xfrm>
            <a:off x="3886200" y="1353312"/>
            <a:ext cx="2011680" cy="804672"/>
          </a:xfrm>
          <a:prstGeom prst="roundRect">
            <a:avLst/>
          </a:prstGeom>
          <a:solidFill>
            <a:srgbClr val="E7F1EF"/>
          </a:solidFill>
          <a:ln w="12700">
            <a:solidFill>
              <a:srgbClr val="B8D3CE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.txt</a:t>
            </a:r>
            <a:endParaRPr lang="zh-TW" sz="1180"/>
          </a:p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text_upload chunks</a:t>
            </a:r>
            <a:endParaRPr lang="zh-TW" sz="1180"/>
          </a:p>
        </p:txBody>
      </p:sp>
      <p:cxnSp>
        <p:nvCxnSpPr>
          <p:cNvPr id="27" name="connector 27"/>
          <p:cNvCxnSpPr/>
          <p:nvPr/>
        </p:nvCxnSpPr>
        <p:spPr>
          <a:xfrm>
            <a:off x="4892040" y="2221992"/>
            <a:ext cx="0" cy="475488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8" name="PDF"/>
          <p:cNvSpPr/>
          <p:nvPr/>
        </p:nvSpPr>
        <p:spPr>
          <a:xfrm>
            <a:off x="6263640" y="1353312"/>
            <a:ext cx="2011680" cy="804672"/>
          </a:xfrm>
          <a:prstGeom prst="roundRect">
            <a:avLst/>
          </a:prstGeom>
          <a:solidFill>
            <a:srgbClr val="F4E7DA"/>
          </a:solidFill>
          <a:ln w="12700">
            <a:solidFill>
              <a:srgbClr val="E1B990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PDF</a:t>
            </a:r>
            <a:endParaRPr lang="zh-TW" sz="1180"/>
          </a:p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pdf_text / pending OCR</a:t>
            </a:r>
            <a:endParaRPr lang="zh-TW" sz="1180"/>
          </a:p>
        </p:txBody>
      </p:sp>
      <p:cxnSp>
        <p:nvCxnSpPr>
          <p:cNvPr id="28" name="connector 28"/>
          <p:cNvCxnSpPr/>
          <p:nvPr/>
        </p:nvCxnSpPr>
        <p:spPr>
          <a:xfrm>
            <a:off x="7269479" y="2221992"/>
            <a:ext cx="0" cy="475488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9" name="圖片"/>
          <p:cNvSpPr/>
          <p:nvPr/>
        </p:nvSpPr>
        <p:spPr>
          <a:xfrm>
            <a:off x="8641080" y="1353312"/>
            <a:ext cx="2011680" cy="804672"/>
          </a:xfrm>
          <a:prstGeom prst="roundRect">
            <a:avLst/>
          </a:prstGeom>
          <a:solidFill>
            <a:srgbClr val="E8E4F4"/>
          </a:solidFill>
          <a:ln w="12700">
            <a:solidFill>
              <a:srgbClr val="C3B8DD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圖片</a:t>
            </a:r>
            <a:endParaRPr lang="zh-TW" sz="1180"/>
          </a:p>
          <a:p>
            <a:pPr/>
            <a:r>
              <a:rPr lang="zh-TW" sz="1180" b="1">
                <a:solidFill>
                  <a:srgbClr val="1F2933"/>
                </a:solidFill>
                <a:latin typeface="Aptos"/>
                <a:ea typeface="Microsoft JhengHei"/>
              </a:rPr>
              <a:t>image_ocr</a:t>
            </a:r>
            <a:endParaRPr lang="zh-TW" sz="1180"/>
          </a:p>
        </p:txBody>
      </p:sp>
      <p:cxnSp>
        <p:nvCxnSpPr>
          <p:cNvPr id="29" name="connector 29"/>
          <p:cNvCxnSpPr/>
          <p:nvPr/>
        </p:nvCxnSpPr>
        <p:spPr>
          <a:xfrm>
            <a:off x="9646919" y="2221992"/>
            <a:ext cx="0" cy="475488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30" name="router"/>
          <p:cNvSpPr/>
          <p:nvPr/>
        </p:nvSpPr>
        <p:spPr>
          <a:xfrm>
            <a:off x="3886200" y="2761488"/>
            <a:ext cx="6766560" cy="603504"/>
          </a:xfrm>
          <a:prstGeom prst="roundRect">
            <a:avLst/>
          </a:prstGeom>
          <a:solidFill>
            <a:srgbClr val="256D85"/>
          </a:solidFill>
          <a:ln w="12700">
            <a:solidFill>
              <a:srgbClr val="256D85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220" b="1">
                <a:solidFill>
                  <a:srgbClr val="FFFFFF"/>
                </a:solidFill>
                <a:latin typeface="Aptos"/>
                <a:ea typeface="Microsoft JhengHei"/>
              </a:rPr>
              <a:t>Document Source Router：依 file type / content type / extraction result 分流</a:t>
            </a:r>
            <a:endParaRPr lang="zh-TW" sz="1220"/>
          </a:p>
        </p:txBody>
      </p:sp>
      <p:cxnSp>
        <p:nvCxnSpPr>
          <p:cNvPr id="31" name="connector 31"/>
          <p:cNvCxnSpPr/>
          <p:nvPr/>
        </p:nvCxnSpPr>
        <p:spPr>
          <a:xfrm>
            <a:off x="7269480" y="3401568"/>
            <a:ext cx="0" cy="384047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32" name="knowledge"/>
          <p:cNvSpPr/>
          <p:nvPr/>
        </p:nvSpPr>
        <p:spPr>
          <a:xfrm>
            <a:off x="3886200" y="3840480"/>
            <a:ext cx="6766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統一進入既有能力</a:t>
            </a:r>
            <a:endParaRPr lang="zh-TW" sz="1120"/>
          </a:p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local chunks、RAG query、Qdrant vector indexing、Agent search；citation / payload 需保留 source_type。</a:t>
            </a:r>
            <a:endParaRPr lang="zh-TW" sz="1120"/>
          </a:p>
        </p:txBody>
      </p:sp>
      <p:sp>
        <p:nvSpPr>
          <p:cNvPr id="33" name="auth"/>
          <p:cNvSpPr/>
          <p:nvPr/>
        </p:nvSpPr>
        <p:spPr>
          <a:xfrm>
            <a:off x="566928" y="3364992"/>
            <a:ext cx="3063240" cy="1527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Demo Auth 補足角色敘事</a:t>
            </a:r>
            <a:endParaRPr lang="zh-TW" sz="1120"/>
          </a:p>
          <a:p>
            <a:pPr/>
            <a:r>
              <a:rPr lang="zh-TW" sz="1120" b="0">
                <a:solidFill>
                  <a:srgbClr val="1F2933"/>
                </a:solidFill>
                <a:latin typeface="Aptos"/>
                <a:ea typeface="Microsoft JhengHei"/>
              </a:rPr>
              <a:t>Admin / Analyst 可做 ingestion；Viewer 只查詢與查看。這是 demo-safe login slice，不是正式 RBAC。</a:t>
            </a:r>
            <a:endParaRPr lang="zh-TW" sz="1120"/>
          </a:p>
        </p:txBody>
      </p:sp>
      <p:sp>
        <p:nvSpPr>
          <p:cNvPr id="34" name="footer"/>
          <p:cNvSpPr/>
          <p:nvPr/>
        </p:nvSpPr>
        <p:spPr>
          <a:xfrm>
            <a:off x="566928" y="6236208"/>
            <a:ext cx="11064240" cy="201168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820" b="0">
                <a:solidFill>
                  <a:srgbClr val="6B7280"/>
                </a:solidFill>
                <a:latin typeface="Aptos"/>
                <a:ea typeface="Microsoft JhengHei"/>
              </a:rPr>
              <a:t>來源：tasks/phase-28-document-sources-auth-mode、docs/ROADMAP.md、TODO.md</a:t>
            </a:r>
            <a:endParaRPr lang="zh-TW" sz="8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56A3A"/>
          </a:solidFill>
          <a:ln w="12700">
            <a:solidFill>
              <a:srgbClr val="C56A3A"/>
            </a:solidFill>
          </a:ln>
        </p:spPr>
        <p:txBody>
          <a:bodyPr/>
          <a:lstStyle/>
          <a:p/>
        </p:txBody>
      </p:sp>
      <p:sp>
        <p:nvSpPr>
          <p:cNvPr id="3" name="title"/>
          <p:cNvSpPr/>
          <p:nvPr/>
        </p:nvSpPr>
        <p:spPr>
          <a:xfrm>
            <a:off x="502920" y="301752"/>
            <a:ext cx="8046720" cy="4572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2600" b="1">
                <a:solidFill>
                  <a:srgbClr val="17202A"/>
                </a:solidFill>
                <a:latin typeface="Aptos"/>
                <a:ea typeface="Microsoft JhengHei"/>
              </a:rPr>
              <a:t>Phase 28 交付切片與 Demo 敘事</a:t>
            </a:r>
            <a:endParaRPr lang="zh-TW" sz="2600"/>
          </a:p>
        </p:txBody>
      </p:sp>
      <p:sp>
        <p:nvSpPr>
          <p:cNvPr id="4" name="subtitle"/>
          <p:cNvSpPr/>
          <p:nvPr/>
        </p:nvSpPr>
        <p:spPr>
          <a:xfrm>
            <a:off x="530352" y="786384"/>
            <a:ext cx="9966960" cy="292608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1050" b="0">
                <a:solidFill>
                  <a:srgbClr val="5A6470"/>
                </a:solidFill>
                <a:latin typeface="Aptos"/>
                <a:ea typeface="Microsoft JhengHei"/>
              </a:rPr>
              <a:t>用 5 張小 ticket 完成 v0.28.0：先固定 contract，再補 runtime、login、release sync</a:t>
            </a:r>
            <a:endParaRPr lang="zh-TW" sz="1050"/>
          </a:p>
        </p:txBody>
      </p:sp>
      <p:sp>
        <p:nvSpPr>
          <p:cNvPr id="10" name="28-01"/>
          <p:cNvSpPr/>
          <p:nvPr/>
        </p:nvSpPr>
        <p:spPr>
          <a:xfrm>
            <a:off x="502920" y="1307592"/>
            <a:ext cx="213969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28-01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Source Router Contract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固定 image_ocr / text_upload / pdf_text / pdf_scanned_pending_ocr。</a:t>
            </a:r>
            <a:endParaRPr lang="zh-TW" sz="980"/>
          </a:p>
        </p:txBody>
      </p:sp>
      <p:cxnSp>
        <p:nvCxnSpPr>
          <p:cNvPr id="11" name="connector 11"/>
          <p:cNvCxnSpPr/>
          <p:nvPr/>
        </p:nvCxnSpPr>
        <p:spPr>
          <a:xfrm>
            <a:off x="2642615" y="1920240"/>
            <a:ext cx="256032" cy="0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13" name="28-02"/>
          <p:cNvSpPr/>
          <p:nvPr/>
        </p:nvSpPr>
        <p:spPr>
          <a:xfrm>
            <a:off x="2770632" y="1307592"/>
            <a:ext cx="213969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28-02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Direct Text Ingestion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.txt 直接建立 text_upload chunks，接 RAG / vector / Agent。</a:t>
            </a:r>
            <a:endParaRPr lang="zh-TW" sz="980"/>
          </a:p>
        </p:txBody>
      </p:sp>
      <p:cxnSp>
        <p:nvCxnSpPr>
          <p:cNvPr id="14" name="connector 14"/>
          <p:cNvCxnSpPr/>
          <p:nvPr/>
        </p:nvCxnSpPr>
        <p:spPr>
          <a:xfrm>
            <a:off x="4910328" y="1920240"/>
            <a:ext cx="256032" cy="0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16" name="28-03"/>
          <p:cNvSpPr/>
          <p:nvPr/>
        </p:nvSpPr>
        <p:spPr>
          <a:xfrm>
            <a:off x="5038344" y="1307592"/>
            <a:ext cx="213969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28-03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Text-Native PDF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可抽文字 PDF 進 pdf_text；掃描 PDF 標示 pending。</a:t>
            </a:r>
            <a:endParaRPr lang="zh-TW" sz="980"/>
          </a:p>
        </p:txBody>
      </p:sp>
      <p:cxnSp>
        <p:nvCxnSpPr>
          <p:cNvPr id="17" name="connector 17"/>
          <p:cNvCxnSpPr/>
          <p:nvPr/>
        </p:nvCxnSpPr>
        <p:spPr>
          <a:xfrm>
            <a:off x="7178040" y="1920240"/>
            <a:ext cx="256031" cy="0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19" name="28-04"/>
          <p:cNvSpPr/>
          <p:nvPr/>
        </p:nvSpPr>
        <p:spPr>
          <a:xfrm>
            <a:off x="7306056" y="1307592"/>
            <a:ext cx="213969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28-04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Demo Login + Gates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login / me / logout，Admin / Analyst / Viewer role gates。</a:t>
            </a:r>
            <a:endParaRPr lang="zh-TW" sz="980"/>
          </a:p>
        </p:txBody>
      </p:sp>
      <p:cxnSp>
        <p:nvCxnSpPr>
          <p:cNvPr id="20" name="connector 20"/>
          <p:cNvCxnSpPr/>
          <p:nvPr/>
        </p:nvCxnSpPr>
        <p:spPr>
          <a:xfrm>
            <a:off x="9445752" y="1920240"/>
            <a:ext cx="256031" cy="0"/>
          </a:xfrm>
          <a:prstGeom prst="line">
            <a:avLst/>
          </a:prstGeom>
          <a:ln w="19050">
            <a:solidFill>
              <a:srgbClr val="8A949E"/>
            </a:solidFill>
            <a:tailEnd type="triangle" w="sm" len="sm"/>
          </a:ln>
        </p:spPr>
      </p:cxnSp>
      <p:sp>
        <p:nvSpPr>
          <p:cNvPr id="22" name="28-05"/>
          <p:cNvSpPr/>
          <p:nvPr/>
        </p:nvSpPr>
        <p:spPr>
          <a:xfrm>
            <a:off x="9573768" y="1307592"/>
            <a:ext cx="2139696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28-05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Release Sync</a:t>
            </a:r>
            <a:endParaRPr lang="zh-TW" sz="980"/>
          </a:p>
          <a:p>
            <a:pPr/>
            <a:r>
              <a:rPr lang="zh-TW" sz="980" b="0">
                <a:solidFill>
                  <a:srgbClr val="1F2933"/>
                </a:solidFill>
                <a:latin typeface="Aptos"/>
                <a:ea typeface="Microsoft JhengHei"/>
              </a:rPr>
              <a:t>validation、版本、README / docs / TODO / ROADMAP 同步。</a:t>
            </a:r>
            <a:endParaRPr lang="zh-TW" sz="980"/>
          </a:p>
        </p:txBody>
      </p:sp>
      <p:sp>
        <p:nvSpPr>
          <p:cNvPr id="40" name="demo header"/>
          <p:cNvSpPr/>
          <p:nvPr/>
        </p:nvSpPr>
        <p:spPr>
          <a:xfrm>
            <a:off x="566928" y="2944368"/>
            <a:ext cx="5394960" cy="411480"/>
          </a:xfrm>
          <a:prstGeom prst="roundRect">
            <a:avLst/>
          </a:prstGeom>
          <a:solidFill>
            <a:srgbClr val="256D85"/>
          </a:solidFill>
          <a:ln w="12700">
            <a:solidFill>
              <a:srgbClr val="256D85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280" b="1">
                <a:solidFill>
                  <a:srgbClr val="FFFFFF"/>
                </a:solidFill>
                <a:latin typeface="Aptos"/>
                <a:ea typeface="Microsoft JhengHei"/>
              </a:rPr>
              <a:t>建議 demo flow</a:t>
            </a:r>
            <a:endParaRPr lang="zh-TW" sz="1280"/>
          </a:p>
        </p:txBody>
      </p:sp>
      <p:sp>
        <p:nvSpPr>
          <p:cNvPr id="41" name="demo body"/>
          <p:cNvSpPr/>
          <p:nvPr/>
        </p:nvSpPr>
        <p:spPr>
          <a:xfrm>
            <a:off x="566928" y="3493008"/>
            <a:ext cx="53949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以 Admin / Analyst 登入，上傳 .txt 或 text-native PDF。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顯示 direct ingestion / PDF text extraction 與 source_type。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用 Viewer 查 RAG / Agent，citation 來自 text_upload / pdf_text。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嘗試 Viewer ingestion API，應被 backend role guard 擋下。</a:t>
            </a:r>
            <a:endParaRPr lang="zh-TW" sz="1040"/>
          </a:p>
        </p:txBody>
      </p:sp>
      <p:sp>
        <p:nvSpPr>
          <p:cNvPr id="42" name="guard header"/>
          <p:cNvSpPr/>
          <p:nvPr/>
        </p:nvSpPr>
        <p:spPr>
          <a:xfrm>
            <a:off x="6291072" y="2944368"/>
            <a:ext cx="5321808" cy="411480"/>
          </a:xfrm>
          <a:prstGeom prst="roundRect">
            <a:avLst/>
          </a:prstGeom>
          <a:solidFill>
            <a:srgbClr val="C56A3A"/>
          </a:solidFill>
          <a:ln w="12700">
            <a:solidFill>
              <a:srgbClr val="C56A3A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280" b="1">
                <a:solidFill>
                  <a:srgbClr val="FFFFFF"/>
                </a:solidFill>
                <a:latin typeface="Aptos"/>
                <a:ea typeface="Microsoft JhengHei"/>
              </a:rPr>
              <a:t>邊界要講清楚</a:t>
            </a:r>
            <a:endParaRPr lang="zh-TW" sz="1280"/>
          </a:p>
        </p:txBody>
      </p:sp>
      <p:sp>
        <p:nvSpPr>
          <p:cNvPr id="43" name="guard body"/>
          <p:cNvSpPr/>
          <p:nvPr/>
        </p:nvSpPr>
        <p:spPr>
          <a:xfrm>
            <a:off x="6291072" y="3493008"/>
            <a:ext cx="53218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1C7"/>
            </a:solidFill>
          </a:ln>
        </p:spPr>
        <p:txBody>
          <a:bodyPr anchor="mid" wrap="square" lIns="127000" tIns="91440" rIns="127000" bIns="91440"/>
          <a:lstStyle/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不把 .txt 說成 OCR；正式來源是 text_upload。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不宣稱 scanned PDF OCR 已完成；只做 text-native PDF。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Demo auth 不等於正式 RBAC / tenant isolation / SSO。</a:t>
            </a:r>
            <a:endParaRPr lang="zh-TW" sz="1040"/>
          </a:p>
          <a:p>
            <a:pPr marL="228600" indent="-137160">
              <a:buChar char="•"/>
            </a:pPr>
            <a:r>
              <a:rPr lang="zh-TW" sz="1040" b="0">
                <a:solidFill>
                  <a:srgbClr val="1F2933"/>
                </a:solidFill>
                <a:latin typeface="Aptos"/>
                <a:ea typeface="Microsoft JhengHei"/>
              </a:rPr>
              <a:t>不新增 PostgreSQL、Redis、NATS、worker、K8s 或 production PDF pipeline。</a:t>
            </a:r>
            <a:endParaRPr lang="zh-TW" sz="1040"/>
          </a:p>
        </p:txBody>
      </p:sp>
      <p:sp>
        <p:nvSpPr>
          <p:cNvPr id="44" name="validation"/>
          <p:cNvSpPr/>
          <p:nvPr/>
        </p:nvSpPr>
        <p:spPr>
          <a:xfrm>
            <a:off x="566928" y="5285232"/>
            <a:ext cx="11045952" cy="621792"/>
          </a:xfrm>
          <a:prstGeom prst="roundRect">
            <a:avLst/>
          </a:prstGeom>
          <a:solidFill>
            <a:srgbClr val="17202A"/>
          </a:solidFill>
          <a:ln w="12700">
            <a:solidFill>
              <a:srgbClr val="17202A"/>
            </a:solidFill>
          </a:ln>
        </p:spPr>
        <p:txBody>
          <a:bodyPr anchor="mid" wrap="square" lIns="127000" tIns="91440" rIns="127000" bIns="91440"/>
          <a:lstStyle/>
          <a:p>
            <a:pPr/>
            <a:r>
              <a:rPr lang="zh-TW" sz="1100" b="1">
                <a:solidFill>
                  <a:srgbClr val="FFFFFF"/>
                </a:solidFill>
                <a:latin typeface="Aptos"/>
                <a:ea typeface="Microsoft JhengHei"/>
              </a:rPr>
              <a:t>Validation：backend tests、frontend build、demo smoke、Browser login / role check、rg source keywords、git diff --check</a:t>
            </a:r>
            <a:endParaRPr lang="zh-TW" sz="1100"/>
          </a:p>
        </p:txBody>
      </p:sp>
      <p:sp>
        <p:nvSpPr>
          <p:cNvPr id="45" name="footer"/>
          <p:cNvSpPr/>
          <p:nvPr/>
        </p:nvSpPr>
        <p:spPr>
          <a:xfrm>
            <a:off x="566928" y="6236208"/>
            <a:ext cx="11064240" cy="201168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</a:ln>
        </p:spPr>
        <p:txBody>
          <a:bodyPr anchor="top" wrap="square" lIns="127000" tIns="91440" rIns="127000" bIns="91440"/>
          <a:lstStyle/>
          <a:p>
            <a:pPr/>
            <a:r>
              <a:rPr lang="zh-TW" sz="820" b="0">
                <a:solidFill>
                  <a:srgbClr val="6B7280"/>
                </a:solidFill>
                <a:latin typeface="Aptos"/>
                <a:ea typeface="Microsoft JhengHei"/>
              </a:rPr>
              <a:t>狀態：Phase 28 backlog 尚待執行；此簡報用於規劃與對外說明，不宣稱功能已完成。</a:t>
            </a:r>
            <a:endParaRPr lang="zh-TW" sz="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uRAG">
  <a:themeElements>
    <a:clrScheme name="DocuRAG">
      <a:dk1>
        <a:srgbClr val="1F2933"/>
      </a:dk1>
      <a:lt1>
        <a:srgbClr val="F7F3EC"/>
      </a:lt1>
      <a:dk2>
        <a:srgbClr val="38424D"/>
      </a:dk2>
      <a:lt2>
        <a:srgbClr val="FFFFFF"/>
      </a:lt2>
      <a:accent1>
        <a:srgbClr val="256D85"/>
      </a:accent1>
      <a:accent2>
        <a:srgbClr val="C56A3A"/>
      </a:accent2>
      <a:accent3>
        <a:srgbClr val="5A7D49"/>
      </a:accent3>
      <a:accent4>
        <a:srgbClr val="D7A84B"/>
      </a:accent4>
      <a:accent5>
        <a:srgbClr val="6F5E9C"/>
      </a:accent5>
      <a:accent6>
        <a:srgbClr val="4C6A7A"/>
      </a:accent6>
      <a:hlink>
        <a:srgbClr val="256D85"/>
      </a:hlink>
      <a:folHlink>
        <a:srgbClr val="6F5E9C"/>
      </a:folHlink>
    </a:clrScheme>
    <a:fontScheme name="DocuRAG">
      <a:majorFont>
        <a:latin typeface="Aptos Display"/>
        <a:ea typeface="Microsoft JhengHei"/>
        <a:cs typeface="Arial"/>
      </a:majorFont>
      <a:minorFont>
        <a:latin typeface="Aptos"/>
        <a:ea typeface="Microsoft JhengHei"/>
        <a:cs typeface="Arial"/>
      </a:minorFont>
    </a:fontScheme>
    <a:fmtScheme name="DocuRAG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DocuRAG</Application>
  <PresentationFormat>On-screen Show (16:9)</PresentationFormat>
  <Slides>2</Slides>
  <Notes>0</Notes>
  <HiddenSlides>0</HiddenSlides>
  <ScaleCrop>false</ScaleCrop>
  <Company>DocuRAG AgentOps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Phase 28 Document Sources / Demo Auth Mode</dc:title>
  <dc:subject>DocuRAG AgentOps v0.28.0 planning overview</dc:subject>
  <dc:creator>Codex</dc:creator>
  <cp:lastModifiedBy>Codex</cp:lastModifiedBy>
  <dcterms:created xsi:type="dcterms:W3CDTF">2026-05-25T06:26:08Z</dcterms:created>
  <dcterms:modified xsi:type="dcterms:W3CDTF">2026-05-25T06:26:08Z</dcterms:modified>
</cp:coreProperties>
</file>